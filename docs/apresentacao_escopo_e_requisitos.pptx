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82296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24544" y="82296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45168" y="82296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65792" y="82296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6416" y="82296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0" y="82296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27664" y="82296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48288" y="82296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124358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24544" y="124358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45168" y="124358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65792" y="124358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86416" y="124358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124358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27664" y="124358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48288" y="124358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166420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24544" y="166420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45168" y="166420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65792" y="166420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86416" y="166420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07040" y="166420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27664" y="166420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48288" y="166420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0" y="2084832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24544" y="2084832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45168" y="2084832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65792" y="2084832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86416" y="2084832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07040" y="2084832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027664" y="2084832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48288" y="2084832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2505456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24544" y="2505456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45168" y="2505456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65792" y="2505456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86416" y="2505456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07040" y="2505456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027664" y="2505456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448288" y="2505456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03920" y="292608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24544" y="292608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45168" y="292608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65792" y="292608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86416" y="292608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607040" y="292608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027664" y="292608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448288" y="292608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03920" y="334670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24544" y="334670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45168" y="334670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765792" y="334670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186416" y="334670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607040" y="334670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027664" y="334670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448288" y="334670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03920" y="376732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24544" y="376732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345168" y="376732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65792" y="376732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86416" y="376732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607040" y="376732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027664" y="376732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448288" y="376732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pic>
        <p:nvPicPr>
          <p:cNvPr id="6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103120"/>
            <a:ext cx="1554480" cy="1554480"/>
          </a:xfrm>
          <a:prstGeom prst="rect">
            <a:avLst/>
          </a:prstGeom>
        </p:spPr>
      </p:pic>
      <p:sp>
        <p:nvSpPr>
          <p:cNvPr id="67" name="Text 64"/>
          <p:cNvSpPr/>
          <p:nvPr/>
        </p:nvSpPr>
        <p:spPr>
          <a:xfrm>
            <a:off x="640080" y="1645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II  ·  UNICEUB</a:t>
            </a:r>
            <a:endParaRPr lang="en-US" sz="1300" dirty="0"/>
          </a:p>
        </p:txBody>
      </p:sp>
      <p:sp>
        <p:nvSpPr>
          <p:cNvPr id="68" name="Text 65"/>
          <p:cNvSpPr/>
          <p:nvPr/>
        </p:nvSpPr>
        <p:spPr>
          <a:xfrm>
            <a:off x="621792" y="20116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Xadrez em Foco</a:t>
            </a:r>
            <a:endParaRPr lang="en-US" sz="4600" dirty="0"/>
          </a:p>
        </p:txBody>
      </p:sp>
      <p:sp>
        <p:nvSpPr>
          <p:cNvPr id="69" name="Text 66"/>
          <p:cNvSpPr/>
          <p:nvPr/>
        </p:nvSpPr>
        <p:spPr>
          <a:xfrm>
            <a:off x="640080" y="30632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4C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 de Escopo &amp; Documento de Requisitos</a:t>
            </a:r>
            <a:endParaRPr lang="en-US" sz="1800" dirty="0"/>
          </a:p>
        </p:txBody>
      </p:sp>
      <p:sp>
        <p:nvSpPr>
          <p:cNvPr id="70" name="Shape 67"/>
          <p:cNvSpPr/>
          <p:nvPr/>
        </p:nvSpPr>
        <p:spPr>
          <a:xfrm>
            <a:off x="640080" y="3794760"/>
            <a:ext cx="502920" cy="27432"/>
          </a:xfrm>
          <a:prstGeom prst="rect">
            <a:avLst/>
          </a:prstGeom>
          <a:solidFill>
            <a:srgbClr val="3A3934"/>
          </a:solidFill>
          <a:ln/>
        </p:spPr>
      </p:sp>
      <p:sp>
        <p:nvSpPr>
          <p:cNvPr id="71" name="Text 68"/>
          <p:cNvSpPr/>
          <p:nvPr/>
        </p:nvSpPr>
        <p:spPr>
          <a:xfrm>
            <a:off x="640080" y="5394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Lyra Galvão dos Santos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640080" y="5669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Prof. Valdemir dos Santos Silva  ·  2º semestre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96012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apresentar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120640" cy="3840480"/>
          </a:xfrm>
          <a:prstGeom prst="roundRect">
            <a:avLst>
              <a:gd name="adj" fmla="val 2381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1B1B1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91" y="2238451"/>
            <a:ext cx="460858" cy="4608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1762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645920" y="23957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Declaração de Escopo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914400" y="326440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8"/>
          <p:cNvSpPr/>
          <p:nvPr/>
        </p:nvSpPr>
        <p:spPr>
          <a:xfrm>
            <a:off x="1170432" y="3127248"/>
            <a:ext cx="4133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e objetivos SMART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14400" y="395020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0"/>
          <p:cNvSpPr/>
          <p:nvPr/>
        </p:nvSpPr>
        <p:spPr>
          <a:xfrm>
            <a:off x="1170432" y="3813048"/>
            <a:ext cx="4133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do produto e exclusões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14400" y="463600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2"/>
          <p:cNvSpPr/>
          <p:nvPr/>
        </p:nvSpPr>
        <p:spPr>
          <a:xfrm>
            <a:off x="1170432" y="4498848"/>
            <a:ext cx="4133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Restrições, premissas e entregas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26480" y="1828800"/>
            <a:ext cx="5120640" cy="3840480"/>
          </a:xfrm>
          <a:prstGeom prst="roundRect">
            <a:avLst>
              <a:gd name="adj" fmla="val 2381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46520" y="2148840"/>
            <a:ext cx="640080" cy="640080"/>
          </a:xfrm>
          <a:prstGeom prst="ellipse">
            <a:avLst/>
          </a:prstGeom>
          <a:solidFill>
            <a:srgbClr val="1B1B1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131" y="2238451"/>
            <a:ext cx="460858" cy="46085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23760" y="21762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223760" y="23957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 de Requisitos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492240" y="326440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18"/>
          <p:cNvSpPr/>
          <p:nvPr/>
        </p:nvSpPr>
        <p:spPr>
          <a:xfrm>
            <a:off x="6748272" y="3127248"/>
            <a:ext cx="4133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produto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492240" y="395020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0"/>
          <p:cNvSpPr/>
          <p:nvPr/>
        </p:nvSpPr>
        <p:spPr>
          <a:xfrm>
            <a:off x="6748272" y="3813048"/>
            <a:ext cx="4133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492240" y="463600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2"/>
          <p:cNvSpPr/>
          <p:nvPr/>
        </p:nvSpPr>
        <p:spPr>
          <a:xfrm>
            <a:off x="6748272" y="4498848"/>
            <a:ext cx="4133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não funcionais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Shape 24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0" name="Shape 25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1" name="Shape 26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2" name="Shape 27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3" name="Shape 28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4" name="Shape 29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5" name="Shape 30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6" name="Shape 31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7" name="Shape 32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8" name="Shape 33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9" name="Shape 34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40" name="Shape 35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41" name="Shape 36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2" name="Shape 37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43" name="Shape 38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4" name="Text 39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96012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DECLARAÇÃO DE ESCOPO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deste documento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0881360" cy="3291840"/>
          </a:xfrm>
          <a:prstGeom prst="roundRect">
            <a:avLst>
              <a:gd name="adj" fmla="val 2778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10312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Descrever de forma clara o escopo do projeto “Xadrez em Foco”, detalhando o trabalho a ser realizado, as entregas previstas e seus critérios de aceitação, as exclusões, restrições e premissas assumidas para o seu planejamento.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como referência para alinhar as expectativas entre o discente responsável, o professor orientador e o usuário parceiro da Atividade Curricular de Extensão (ACE).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Shape 7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1" name="Shape 8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3" name="Shape 10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4" name="Shape 11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Shape 12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6" name="Shape 13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Shape 14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Shape 15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9" name="Shape 16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1" name="Shape 18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2" name="Shape 19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Shape 20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4" name="Shape 21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96012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DECLARAÇÃO DE ESCOPO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Situação atual e justificativa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98424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4"/>
          <p:cNvSpPr/>
          <p:nvPr/>
        </p:nvSpPr>
        <p:spPr>
          <a:xfrm>
            <a:off x="896112" y="1847088"/>
            <a:ext cx="6327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Jogadores que desejam analisar posições vistas em capturas de tela precisam inserir manualmente cada peça em uma ferramenta como o Lichess para gerar a notação FEN.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17296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3035808"/>
            <a:ext cx="6327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automatiza essa etapa, usando visão computacional para converter uma captura de tela do tabuleiro diretamente em notação FEN.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406640" y="1828800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651760"/>
            <a:ext cx="1463040" cy="1463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0" y="42976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digitação manual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peça, posição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posição.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Shape 10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5" name="Shape 11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Shape 12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7" name="Shape 13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8" name="Shape 14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Shape 15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0" name="Shape 16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Shape 17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Shape 18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3" name="Shape 19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Shape 20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5" name="Shape 21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6" name="Shape 22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Shape 23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8" name="Shape 24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Text 25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96012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DECLARAÇÃO DE ESCOPO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SMART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1B1B1B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94767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mínima na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das peças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1B1B1B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0" y="194767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480560" y="27706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Posições distintas no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teste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0" y="178308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1B1B1B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194767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23/11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8229600" y="27706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do MVP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8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(Sprint 5)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886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/ Assignable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41605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que recebe uma captura de tela e retorna a posição em FEN, disponibilizando o resultado para análise externa (Lichess). Responsável: Gabriel Lyra Galvão dos Santos.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4800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5074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restrito a print de tela e ao campo de posição das peças do FEN — viável dentro da carga horária e do prazo da disciplina.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1" name="Shape 18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3" name="Shape 20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4" name="Shape 21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Shape 22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6" name="Shape 23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Shape 24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9" name="Shape 26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Shape 27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1" name="Shape 28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2" name="Shape 29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3" name="Shape 30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4" name="Shape 31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96012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DECLARAÇÃO DE ESCOPO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do produto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202996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4"/>
          <p:cNvSpPr/>
          <p:nvPr/>
        </p:nvSpPr>
        <p:spPr>
          <a:xfrm>
            <a:off x="896112" y="1892808"/>
            <a:ext cx="10351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para upload de captura de tela de tabuleiro de xadrez digital.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94436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2807208"/>
            <a:ext cx="10351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visão computacional para detecção do tabuleiro e identificação de cada peça em sua respectiva casa.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85876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3721608"/>
            <a:ext cx="10351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automática da notação FEN (campo de posição das peças).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477316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4636008"/>
            <a:ext cx="10351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Exibição do FEN gerado, com opção de copiar ou abrir diretamente no Lichess.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6" name="Shape 13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Shape 14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8" name="Shape 15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9" name="Shape 16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1" name="Shape 18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Shape 19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Shape 20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4" name="Shape 21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Shape 22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6" name="Shape 23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7" name="Shape 24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9" name="Shape 26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96012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DECLARAÇÃO DE ESCOPO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Exclusões do projeto</a:t>
            </a:r>
            <a:endParaRPr lang="en-US" sz="2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84708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a partir de foto de tabuleiro físico (evolução futura)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2608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85292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Turno, direitos de roque e en passant no FEN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3192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385876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análise integrado (ex.: Stockfish) — análise é externa, via Lichess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920240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492240" y="184708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partidas ou geração de PGN</a:t>
            </a:r>
            <a:endParaRPr lang="en-US" sz="13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926080"/>
            <a:ext cx="256032" cy="2560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492240" y="285292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mobile nativo (solução exclusivamente web)</a:t>
            </a:r>
            <a:endParaRPr lang="en-US" sz="13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931920"/>
            <a:ext cx="256032" cy="25603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492240" y="385876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temas de tabuleiro/peças fora dos padrões mais comuns</a:t>
            </a:r>
            <a:endParaRPr lang="en-US" sz="1300" dirty="0"/>
          </a:p>
        </p:txBody>
      </p:sp>
      <p:sp>
        <p:nvSpPr>
          <p:cNvPr id="18" name="Shape 9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Shape 10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0" name="Shape 11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Shape 12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2" name="Shape 13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3" name="Shape 14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Shape 15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5" name="Shape 16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6" name="Shape 17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Shape 18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8" name="Shape 19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Shape 20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0" name="Shape 21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1" name="Shape 22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Shape 23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3" name="Shape 24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4" name="Text 25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96012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DECLARAÇÃO DE ESCOPO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Restrições &amp; Premissas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8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FBFAF7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103120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até 23/11/2026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FBFAF7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880360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individual, sem equipe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657600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FBFAF7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657600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 bibliotecas gratuitas ou educacionais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434840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FBFAF7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4434840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imagem restrita a capturas de tela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63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63640" y="210312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21031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do usuário parceiro, Matheus Belfort Moura, para fornecer capturas e validar resultados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63640" y="3127248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312724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um conjunto suficiente de capturas de tela de diferentes posições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4151376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92240" y="4151376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pessoal compatível com as bibliotecas de visão computacional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Shape 20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4" name="Shape 21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Shape 22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6" name="Shape 23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7" name="Shape 24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Shape 25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9" name="Shape 26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Shape 27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1" name="Shape 28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2" name="Shape 29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3" name="Shape 30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4" name="Shape 31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5" name="Shape 32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6" name="Shape 33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7" name="Shape 34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96012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DECLARAÇÃO DE ESCOPO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Entregas e critérios de aceitação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931920"/>
        </p:xfrm>
        <a:graphic>
          <a:graphicData uri="http://schemas.openxmlformats.org/drawingml/2006/table">
            <a:tbl>
              <a:tblPr/>
              <a:tblGrid>
                <a:gridCol w="3931920"/>
                <a:gridCol w="6035040"/>
                <a:gridCol w="1097280"/>
              </a:tblGrid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de aceitação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Levantamento de requisitos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Requisitos validados e aprovados pelo usuário parceiro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Protótipo de interface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Aprovado pelo usuário parceiro e pelo orientador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 funcional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funcional em teste; layout responsivo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detecção de peças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Acerto mínimo de 90% em 200+ posições de teste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Geração da notação FEN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 corresponde exatamente à posição real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integrado (MVP)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Ponta a ponta, validado pelo usuário parceiro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4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9" name="Shape 5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Shape 6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1" name="Shape 7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2" name="Shape 8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Shape 9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4" name="Shape 10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Shape 11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Shape 12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7" name="Shape 13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Shape 14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9" name="Shape 15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0" name="Shape 16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Shape 17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2" name="Shape 18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Text 19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96012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DOCUMENTO DE REQUISITOS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&amp; responsáveis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9202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uma visão inicial, em formato textual, dos requisitos do produto, levantados a partir das necessidades do usuário parceiro. Serve de apoio ao Documento de Visão e será detalhado em Especificações de Casos de Uso e Especificação Suplementar.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B1B1B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393192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4002329"/>
            <a:ext cx="362102" cy="3621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9502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Lyra Galvão dos Santos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50876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C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68680" y="4709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Belfort de Moura Torres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68680" y="4983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C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Enxadrista / Patrocinador do Projeto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63640" y="365760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92240" y="37947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49224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Ensino — PI II  ·  UniCEUB (20/07/2026)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492240" y="4526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Aula — PI II  ·  Prof. Valdemir dos Santos Silva (22/07/2026)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Shape 16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1" name="Shape 17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Shape 18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3" name="Shape 19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4" name="Shape 20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Shape 21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6" name="Shape 22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Shape 23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Shape 24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9" name="Shape 25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Shape 26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1" name="Shape 27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2" name="Shape 28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3" name="Shape 29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4" name="Shape 30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5" name="Text 31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96012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DOCUMENTO DE REQUISITOS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produto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7830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743200" y="178308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 independente; única conexão externa é o redirecionamento ao Lichess.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80720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743200" y="2807208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print, detecção do tabuleiro e peças, geração do FEN, link para análise externa.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831336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383133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743200" y="3831336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Enxadristas de plataformas digitais (chess.com, lichess.org) que querem registrar posições sem conhecimento técnico.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855464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7F5F0"/>
          </a:solidFill>
          <a:ln w="12700">
            <a:solidFill>
              <a:srgbClr val="E4E0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855464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743200" y="4855464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só por print de tela; saída só o campo de posição do FEN; dev individual; ferramentas gratuitas; prazo 23/11/2026.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Shape 16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0" name="Shape 17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Shape 18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2" name="Shape 19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3" name="Shape 20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Shape 21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5" name="Shape 22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6" name="Shape 23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Shape 24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8" name="Shape 25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Shape 26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0" name="Shape 27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1" name="Shape 28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Shape 29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3" name="Shape 30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96012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DOCUMENTO DE REQUISITOS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funcionais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931920"/>
        </p:xfrm>
        <a:graphic>
          <a:graphicData uri="http://schemas.openxmlformats.org/drawingml/2006/table">
            <a:tbl>
              <a:tblPr/>
              <a:tblGrid>
                <a:gridCol w="822960"/>
                <a:gridCol w="8595360"/>
                <a:gridCol w="1645920"/>
              </a:tblGrid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de captura de tela contendo um tabuleiro de xadrez digital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Detecção automática da região do tabuleiro na imagem enviada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Identificação do tipo de cada peça presente no tabuleiro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Geração da notação FEN correspondente à posição identificada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Exibição do FEN gerado, permitindo copiá-lo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6B0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que abra a posição direto em ferramenta externa (Lichess)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6B0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4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9" name="Shape 5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Shape 6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1" name="Shape 7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2" name="Shape 8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Shape 9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4" name="Shape 10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Shape 11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Shape 12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7" name="Shape 13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Shape 14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9" name="Shape 15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0" name="Shape 16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Shape 17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2" name="Shape 18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Text 19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582290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96012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DOCUMENTO DE REQUISITOS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não funcionais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840480"/>
        </p:xfrm>
        <a:graphic>
          <a:graphicData uri="http://schemas.openxmlformats.org/drawingml/2006/table">
            <a:tbl>
              <a:tblPr/>
              <a:tblGrid>
                <a:gridCol w="914400"/>
                <a:gridCol w="8503920"/>
                <a:gridCol w="16459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Usabilidade: interface simples o suficiente para uso sem treinamento prévio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6B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Desempenho: processar a imagem e retornar o resultado em poucos segundos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6B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Portabilidade: acessível via navegador web, sem necessidade de instalação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Custo: desenvolvido usando apenas ferramentas gratuitas ou educacionais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Acurácia: taxa mínima de acerto de 90% na identificação das peças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11256264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4"/>
          <p:cNvSpPr/>
          <p:nvPr/>
        </p:nvSpPr>
        <p:spPr>
          <a:xfrm>
            <a:off x="11375136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9" name="Shape 5"/>
          <p:cNvSpPr/>
          <p:nvPr/>
        </p:nvSpPr>
        <p:spPr>
          <a:xfrm>
            <a:off x="11494008" y="5925312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Shape 6"/>
          <p:cNvSpPr/>
          <p:nvPr/>
        </p:nvSpPr>
        <p:spPr>
          <a:xfrm>
            <a:off x="11612880" y="5925312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1" name="Shape 7"/>
          <p:cNvSpPr/>
          <p:nvPr/>
        </p:nvSpPr>
        <p:spPr>
          <a:xfrm>
            <a:off x="11256264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2" name="Shape 8"/>
          <p:cNvSpPr/>
          <p:nvPr/>
        </p:nvSpPr>
        <p:spPr>
          <a:xfrm>
            <a:off x="11375136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Shape 9"/>
          <p:cNvSpPr/>
          <p:nvPr/>
        </p:nvSpPr>
        <p:spPr>
          <a:xfrm>
            <a:off x="11494008" y="6044184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4" name="Shape 10"/>
          <p:cNvSpPr/>
          <p:nvPr/>
        </p:nvSpPr>
        <p:spPr>
          <a:xfrm>
            <a:off x="11612880" y="6044184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Shape 11"/>
          <p:cNvSpPr/>
          <p:nvPr/>
        </p:nvSpPr>
        <p:spPr>
          <a:xfrm>
            <a:off x="11256264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Shape 12"/>
          <p:cNvSpPr/>
          <p:nvPr/>
        </p:nvSpPr>
        <p:spPr>
          <a:xfrm>
            <a:off x="11375136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7" name="Shape 13"/>
          <p:cNvSpPr/>
          <p:nvPr/>
        </p:nvSpPr>
        <p:spPr>
          <a:xfrm>
            <a:off x="11494008" y="6163056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Shape 14"/>
          <p:cNvSpPr/>
          <p:nvPr/>
        </p:nvSpPr>
        <p:spPr>
          <a:xfrm>
            <a:off x="11612880" y="6163056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19" name="Shape 15"/>
          <p:cNvSpPr/>
          <p:nvPr/>
        </p:nvSpPr>
        <p:spPr>
          <a:xfrm>
            <a:off x="11256264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0" name="Shape 16"/>
          <p:cNvSpPr/>
          <p:nvPr/>
        </p:nvSpPr>
        <p:spPr>
          <a:xfrm>
            <a:off x="11375136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Shape 17"/>
          <p:cNvSpPr/>
          <p:nvPr/>
        </p:nvSpPr>
        <p:spPr>
          <a:xfrm>
            <a:off x="11494008" y="6281928"/>
            <a:ext cx="118872" cy="118872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2" name="Shape 18"/>
          <p:cNvSpPr/>
          <p:nvPr/>
        </p:nvSpPr>
        <p:spPr>
          <a:xfrm>
            <a:off x="11612880" y="6281928"/>
            <a:ext cx="118872" cy="1188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Text 19"/>
          <p:cNvSpPr/>
          <p:nvPr/>
        </p:nvSpPr>
        <p:spPr>
          <a:xfrm>
            <a:off x="4572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274320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" y="274320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274320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74320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" y="274320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74320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75104" y="274320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95728" y="274320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548640" y="316382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28016" y="316382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316382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16382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3856" y="316382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316382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75104" y="316382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16382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548640" y="358444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-128016" y="358444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" y="358444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58444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" y="358444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54480" y="358444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75104" y="358444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95728" y="358444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-548640" y="4005072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-128016" y="4005072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" y="4005072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4005072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33856" y="4005072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54480" y="4005072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75104" y="4005072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95728" y="4005072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-548640" y="4425696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-128016" y="4425696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2608" y="4425696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" y="4425696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33856" y="4425696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54480" y="4425696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75104" y="4425696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95728" y="4425696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-548640" y="484632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-128016" y="484632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" y="484632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3232" y="484632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33856" y="484632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554480" y="484632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75104" y="4846320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95728" y="4846320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-548640" y="526694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-128016" y="526694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2608" y="526694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3232" y="526694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33856" y="526694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554480" y="526694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75104" y="5266944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95728" y="5266944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-548640" y="568756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-128016" y="568756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2608" y="568756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3232" y="568756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33856" y="568756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554480" y="568756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75104" y="5687568"/>
            <a:ext cx="420624" cy="420624"/>
          </a:xfrm>
          <a:prstGeom prst="rect">
            <a:avLst/>
          </a:prstGeom>
          <a:solidFill>
            <a:srgbClr val="1F1E1B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95728" y="5687568"/>
            <a:ext cx="420624" cy="420624"/>
          </a:xfrm>
          <a:prstGeom prst="rect">
            <a:avLst/>
          </a:prstGeom>
          <a:solidFill>
            <a:srgbClr val="24232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94960" y="82296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2976" y="950976"/>
            <a:ext cx="658368" cy="658368"/>
          </a:xfrm>
          <a:prstGeom prst="rect">
            <a:avLst/>
          </a:prstGeom>
        </p:spPr>
      </p:pic>
      <p:sp>
        <p:nvSpPr>
          <p:cNvPr id="68" name="Text 65"/>
          <p:cNvSpPr/>
          <p:nvPr/>
        </p:nvSpPr>
        <p:spPr>
          <a:xfrm>
            <a:off x="548640" y="1920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800" dirty="0"/>
          </a:p>
        </p:txBody>
      </p:sp>
      <p:sp>
        <p:nvSpPr>
          <p:cNvPr id="69" name="Text 66"/>
          <p:cNvSpPr/>
          <p:nvPr/>
        </p:nvSpPr>
        <p:spPr>
          <a:xfrm>
            <a:off x="548640" y="2788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4C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sobre o escopo ou os requisitos do projeto?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Lyra Galvão dos Santos  ·  Projeto Integrador II  ·  UniCEUB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2026-09-13T21:53:10Z</dcterms:created>
  <dcterms:modified xsi:type="dcterms:W3CDTF">2026-09-13T21:53:10Z</dcterms:modified>
</cp:coreProperties>
</file>