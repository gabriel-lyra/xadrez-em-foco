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</p:sldIdLst>
  <p:sldSz cy="6858000" cx="12192000"/>
  <p:notesSz cx="6858000" cy="12192000"/>
  <p:embeddedFontLst>
    <p:embeddedFont>
      <p:font typeface="Roboto Mono Medium"/>
      <p:regular r:id="rId6"/>
      <p:bold r:id="rId7"/>
      <p:italic r:id="rId8"/>
      <p:boldItalic r:id="rId9"/>
    </p:embeddedFont>
    <p:embeddedFont>
      <p:font typeface="Roboto"/>
      <p:regular r:id="rId10"/>
      <p:bold r:id="rId11"/>
      <p:italic r:id="rId12"/>
      <p:boldItalic r:id="rId13"/>
    </p:embeddedFon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obotoMonoMedium-boldItalic.fntdata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slide" Target="slides/slide1.xml"/><Relationship Id="rId6" Type="http://schemas.openxmlformats.org/officeDocument/2006/relationships/font" Target="fonts/RobotoMonoMedium-regular.fntdata"/><Relationship Id="rId7" Type="http://schemas.openxmlformats.org/officeDocument/2006/relationships/font" Target="fonts/RobotoMonoMedium-bold.fntdata"/><Relationship Id="rId8" Type="http://schemas.openxmlformats.org/officeDocument/2006/relationships/font" Target="fonts/RobotoMono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8.png"/><Relationship Id="rId13" Type="http://schemas.openxmlformats.org/officeDocument/2006/relationships/image" Target="../media/image12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2.png"/><Relationship Id="rId15" Type="http://schemas.openxmlformats.org/officeDocument/2006/relationships/image" Target="../media/image10.png"/><Relationship Id="rId1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65750" y="237743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B9B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9B9B9B"/>
                </a:solidFill>
                <a:latin typeface="Arial"/>
                <a:ea typeface="Arial"/>
                <a:cs typeface="Arial"/>
                <a:sym typeface="Arial"/>
              </a:rPr>
              <a:t>PITCH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114800" y="2743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6B6B6B"/>
                </a:solidFill>
              </a:rPr>
              <a:t>Xadrez em Foco</a:t>
            </a:r>
            <a:endParaRPr b="1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914400"/>
            <a:ext cx="2176272" cy="1801368"/>
          </a:xfrm>
          <a:prstGeom prst="roundRect">
            <a:avLst>
              <a:gd fmla="val 4061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332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777240" y="99669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JUSTIFICATIVAS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30352" y="1216152"/>
            <a:ext cx="1856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Passado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30352" y="1444752"/>
            <a:ext cx="184708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Jogadores gastam tempo inserindo manualmente posições vistas em prints de tela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Processo manual é lento e sujeito a erros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65760" y="2852928"/>
            <a:ext cx="2176272" cy="1801368"/>
          </a:xfrm>
          <a:prstGeom prst="roundRect">
            <a:avLst>
              <a:gd fmla="val 4061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29718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777240" y="2935224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 SMART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30352" y="3236976"/>
            <a:ext cx="18470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 Medium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Gerar posição em FEN a partir de print de tela com acurácia mínima de [DEFINIR]%</a:t>
            </a:r>
            <a:endParaRPr i="0" sz="95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 Medium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Responsável: Gabriel Lyra Galvão dos Santos</a:t>
            </a:r>
            <a:endParaRPr i="0" sz="95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 Medium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 Medium"/>
                <a:ea typeface="Roboto Mono Medium"/>
                <a:cs typeface="Roboto Mono Medium"/>
                <a:sym typeface="Roboto Mono Medium"/>
              </a:rPr>
              <a:t>MVP entregue até 23/11/2026</a:t>
            </a:r>
            <a:endParaRPr i="0" sz="950" u="none" cap="none" strike="noStrike">
              <a:solidFill>
                <a:schemeClr val="dk1"/>
              </a:solidFill>
              <a:latin typeface="Roboto Mono Medium"/>
              <a:ea typeface="Roboto Mono Medium"/>
              <a:cs typeface="Roboto Mono Medium"/>
              <a:sym typeface="Roboto Mono Medium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65760" y="4791456"/>
            <a:ext cx="2176272" cy="1801368"/>
          </a:xfrm>
          <a:prstGeom prst="roundRect">
            <a:avLst>
              <a:gd fmla="val 4061" name="adj"/>
            </a:avLst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" name="Google Shape;2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49103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777240" y="4873752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BENEFÍCIOS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30352" y="5093208"/>
            <a:ext cx="18562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Futuro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30352" y="5321808"/>
            <a:ext cx="184708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Redução do tempo de registro de posições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Menos erros na notação FEN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Acesso mais rápido à análise no Lichess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2679192" y="914400"/>
            <a:ext cx="2176272" cy="1801368"/>
          </a:xfrm>
          <a:prstGeom prst="roundRect">
            <a:avLst>
              <a:gd fmla="val 4061" name="adj"/>
            </a:avLst>
          </a:prstGeom>
          <a:solidFill>
            <a:srgbClr val="B39D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16352" y="10332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3090672" y="99669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2843784" y="1298448"/>
            <a:ext cx="18470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Aplicação web de reconhecimento de posições de xadrez via visão computacional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2679192" y="2852928"/>
            <a:ext cx="2176272" cy="3730752"/>
          </a:xfrm>
          <a:prstGeom prst="roundRect">
            <a:avLst>
              <a:gd fmla="val 3361" name="adj"/>
            </a:avLst>
          </a:prstGeom>
          <a:solidFill>
            <a:srgbClr val="B39D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16352" y="29718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3090672" y="2935224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REQUISITOS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2843784" y="3236976"/>
            <a:ext cx="1847088" cy="325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Upload de captura de tela do tabuleiro digital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Detecção do tabuleiro e identificação das peças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Geração do campo de posição das peças (FEN)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Link direto para análise externa no Lichess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992624" y="914400"/>
            <a:ext cx="2176272" cy="2606040"/>
          </a:xfrm>
          <a:prstGeom prst="roundRect">
            <a:avLst>
              <a:gd fmla="val 3361" name="adj"/>
            </a:avLst>
          </a:prstGeom>
          <a:solidFill>
            <a:srgbClr val="F4A4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29784" y="10332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"/>
          <p:cNvSpPr/>
          <p:nvPr/>
        </p:nvSpPr>
        <p:spPr>
          <a:xfrm>
            <a:off x="5404104" y="99669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STAKEHOLDERS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157216" y="1298448"/>
            <a:ext cx="1847088" cy="2130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Matheus Belfort Moura (usuário parceiro)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Prof. Valdemir dos Santos Silva (orientador)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Coordenação do curso (UniCEUB)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992624" y="3657600"/>
            <a:ext cx="2176272" cy="1600200"/>
          </a:xfrm>
          <a:prstGeom prst="roundRect">
            <a:avLst>
              <a:gd fmla="val 4571" name="adj"/>
            </a:avLst>
          </a:prstGeom>
          <a:solidFill>
            <a:srgbClr val="F4A4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29784" y="37764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5404104" y="373989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157216" y="4041648"/>
            <a:ext cx="1847088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Gabriel Lyra Galvão dos Santos (desenvolvimento individual)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306056" y="914400"/>
            <a:ext cx="2176272" cy="2103120"/>
          </a:xfrm>
          <a:prstGeom prst="roundRect">
            <a:avLst>
              <a:gd fmla="val 3478" name="adj"/>
            </a:avLst>
          </a:prstGeom>
          <a:solidFill>
            <a:srgbClr val="56C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43216" y="10332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7717536" y="99669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PREMISSAS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470648" y="1298448"/>
            <a:ext cx="1847088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Disponibilidade do usuário parceiro para testes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Acesso a capturas de tela de posições variadas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Infraestrutura pessoal suficiente para o desenvolvimento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306056" y="3154680"/>
            <a:ext cx="2176272" cy="2103120"/>
          </a:xfrm>
          <a:prstGeom prst="roundRect">
            <a:avLst>
              <a:gd fmla="val 3478" name="adj"/>
            </a:avLst>
          </a:prstGeom>
          <a:solidFill>
            <a:srgbClr val="56C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43216" y="3273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"/>
          <p:cNvSpPr/>
          <p:nvPr/>
        </p:nvSpPr>
        <p:spPr>
          <a:xfrm>
            <a:off x="7717536" y="323697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GRUPOS DE ENTREGAS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470648" y="3538728"/>
            <a:ext cx="1847088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Requisitos e protótipo</a:t>
            </a:r>
            <a:endParaRPr i="0" sz="9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Front-end funcional</a:t>
            </a:r>
            <a:endParaRPr i="0" sz="9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Modelo de detecção + geração do FEN</a:t>
            </a:r>
            <a:endParaRPr i="0" sz="9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Sistema integrado (MVP) e documentação</a:t>
            </a:r>
            <a:endParaRPr i="0" sz="95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992624" y="5394960"/>
            <a:ext cx="4489704" cy="1188720"/>
          </a:xfrm>
          <a:prstGeom prst="roundRect">
            <a:avLst>
              <a:gd fmla="val 6154" name="adj"/>
            </a:avLst>
          </a:prstGeom>
          <a:solidFill>
            <a:srgbClr val="56C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29784" y="55138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5404104" y="5477256"/>
            <a:ext cx="39410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RESTRIÇÕES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157216" y="5733308"/>
            <a:ext cx="4160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Mono"/>
              <a:buChar char="•"/>
            </a:pPr>
            <a:r>
              <a:rPr i="0" lang="en-US" sz="9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Prazo até 23/11/2026</a:t>
            </a:r>
            <a:endParaRPr i="0" sz="9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Mono"/>
              <a:buChar char="•"/>
            </a:pPr>
            <a:r>
              <a:rPr i="0" lang="en-US" sz="9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Desenvolvimento individual (sem equipe)</a:t>
            </a:r>
            <a:endParaRPr i="0" sz="9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Mono"/>
              <a:buChar char="•"/>
            </a:pPr>
            <a:r>
              <a:rPr i="0" lang="en-US" sz="9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Entrada apenas por print de tela (sem foto de tabuleiro físico)</a:t>
            </a:r>
            <a:endParaRPr i="0" sz="9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Mono"/>
              <a:buChar char="•"/>
            </a:pPr>
            <a:r>
              <a:rPr i="0" lang="en-US" sz="9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Apenas ferramentas gratuitas/open-source</a:t>
            </a:r>
            <a:endParaRPr i="0" sz="9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619488" y="914400"/>
            <a:ext cx="2176272" cy="2331720"/>
          </a:xfrm>
          <a:prstGeom prst="roundRect">
            <a:avLst>
              <a:gd fmla="val 3361" name="adj"/>
            </a:avLst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56648" y="10332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10030968" y="99669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9784080" y="1298448"/>
            <a:ext cx="1847088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Baixa acurácia do modelo em temas visuais não previstos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Atraso por sobrecarga acadêmica (projeto individual, sem equipe)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Indisponibilidade do usuário parceiro para testes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Variação de leiaute entre plataformas de xadrez digitais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619500" y="3383275"/>
            <a:ext cx="2176200" cy="1856100"/>
          </a:xfrm>
          <a:prstGeom prst="roundRect">
            <a:avLst>
              <a:gd fmla="val 5000" name="adj"/>
            </a:avLst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56648" y="35021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0030968" y="3465576"/>
            <a:ext cx="1627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LINHA DO TEMPO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784080" y="3767328"/>
            <a:ext cx="1847088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Sprint 1–2: requisitos e protótipo (ago)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Sprint 3: front-end (ago–set)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Sprint 4: back-end/CV (out–nov)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Sprint 5: MVP entregue (23/11)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619500" y="5395075"/>
            <a:ext cx="2176200" cy="1188600"/>
          </a:xfrm>
          <a:prstGeom prst="roundRect">
            <a:avLst>
              <a:gd fmla="val 4571" name="adj"/>
            </a:avLst>
          </a:prstGeom>
          <a:solidFill>
            <a:srgbClr val="56C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838948" y="551384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10058393" y="5477326"/>
            <a:ext cx="1627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784075" y="5715000"/>
            <a:ext cx="184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Ferramentas open-source (Python, OpenCV/ML)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Hospedagem em camada gratuita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2400" lvl="0" marL="1524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 Mono"/>
              <a:buChar char="•"/>
            </a:pPr>
            <a:r>
              <a:rPr i="0" lang="en-US" sz="9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Custo estimado: R$ 0,00</a:t>
            </a:r>
            <a:endParaRPr i="0" sz="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